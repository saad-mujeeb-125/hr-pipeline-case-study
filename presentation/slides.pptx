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0456B"/>
                </a:solidFill>
              </a:rPr>
              <a:t>Indus Weave Textiles — HR Data Pipeline &amp; Payroll Audit</a:t>
            </a:r>
          </a:p>
          <a:p>
            <a:r>
              <a:rPr sz="1800">
                <a:solidFill>
                  <a:srgbClr val="5A6B7D"/>
                </a:solidFill>
              </a:rPr>
              <a:t>PeopleOps Data Hackathon · six months of HCM exports (Apr–Sep 2026) · Python 3.14 + SQL Server 2025 Express</a:t>
            </a:r>
          </a:p>
          <a:p>
            <a:pPr>
              <a:spcBef>
                <a:spcPts val="2600"/>
              </a:spcBef>
            </a:pPr>
            <a:r>
              <a:rPr sz="2000" b="1">
                <a:solidFill>
                  <a:srgbClr val="1D2733"/>
                </a:solidFill>
              </a:rPr>
              <a:t>One command rebuilds everything:   python -X utf8 pipeline/run_pipeline.py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456B"/>
                </a:solidFill>
              </a:rPr>
              <a:t>Pipeline in one command — six stages, 13 steps</a:t>
            </a:r>
          </a:p>
          <a:p>
            <a:r>
              <a:rPr sz="1500">
                <a:solidFill>
                  <a:srgbClr val="5A6B7D"/>
                </a:solidFill>
              </a:rPr>
              <a:t>345,280 punches reconcile to the row; every raw export untouched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247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D2733"/>
                </a:solidFill>
              </a:rPr>
              <a:t>Stage 1 — ingest 12 files exactly as delivered  ·  columns as text, provenance columns, hash-based idempotence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D2733"/>
                </a:solidFill>
              </a:rPr>
              <a:t>Stage 2 — seven cleaning bullets, every fix in CODE: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1D2733"/>
                </a:solidFill>
              </a:rPr>
              <a:t>3 mixed date formats → DATE   ·   1,316 duplicate-key rows → 1,266 employees + 50-row merge log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1D2733"/>
                </a:solidFill>
              </a:rPr>
              <a:t>punches: 338,318 mapped → 322,143 kept / 23,137 rejected, each with a written reason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1D2733"/>
                </a:solidFill>
              </a:rPr>
              <a:t>faulty device DEV-SITE-01 (+60 min since 1 Jul) → 45,803 punch times corrected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1D2733"/>
                </a:solidFill>
              </a:rPr>
              <a:t>leave JSON flattened: 5,372 requests → 8,604 paid single days (rules 16–18)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D2733"/>
                </a:solidFill>
              </a:rPr>
              <a:t>Stage 3 — staging.attendance_daily: 217,584 employee-days, six statuses (rule 12)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D2733"/>
                </a:solidFill>
              </a:rPr>
              <a:t>Stage 4 — star schema: 4 dims (dim_employee SCD2 = 3,686 rows) + 4 facts, all reconciled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D2733"/>
                </a:solidFill>
              </a:rPr>
              <a:t>Stage 5 — 10 business questions, one .sql + one result CSV each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D2733"/>
                </a:solidFill>
              </a:rPr>
              <a:t>Stage 6 — 68 automated checks → quality.dq_results, gating the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456B"/>
                </a:solidFill>
              </a:rPr>
              <a:t>Data quality: 68 checks, 0 blocking</a:t>
            </a:r>
          </a:p>
          <a:p>
            <a:r>
              <a:rPr sz="1500">
                <a:solidFill>
                  <a:srgbClr val="5A6B7D"/>
                </a:solidFill>
              </a:rPr>
              <a:t>raw = cleaned + rejected must hold for EVERY table — or the build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247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1D2733"/>
                </a:solidFill>
              </a:rPr>
              <a:t>PK (22) — uniqueness + not-null on every key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D2733"/>
                </a:solidFill>
              </a:rPr>
              <a:t>FK (18) — every fact row finds its dimension row (both natural and surrogate keys)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D2733"/>
                </a:solidFill>
              </a:rPr>
              <a:t>Reconciliation (13) — employees 1,316 = 1,266 + 50 · punches 345,280 = 322,143 + 23,137 · JSON documents counted with OPENJSON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D2733"/>
                </a:solidFill>
              </a:rPr>
              <a:t>Accepted values (8) — statuses, leave types, pay components inside whitelist (rule 12/16/21)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D2733"/>
                </a:solidFill>
              </a:rPr>
              <a:t>Sanity (7) — no negative hours, no shift &gt; 16 h, no overlapping SCD2 ranges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B07A00"/>
                </a:solidFill>
              </a:rPr>
              <a:t>1 documented quirk = EXPECTED, not hidden: E11259 zero-length SCD2 tie (planted in source)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E7A3C"/>
                </a:solidFill>
              </a:rPr>
              <a:t>Planted issues fixed in code and documented: date soup · ghost duplicates · unmapped contractor punches · 2-min double punches · device clock drift · phantom 1900-01-01 effective_to sentinels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89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7A3C"/>
                </a:solidFill>
              </a:rPr>
              <a:t>Every check WRITES its result to the DB and fails the run — quality is a gate, not a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456B"/>
                </a:solidFill>
              </a:rPr>
              <a:t>Finding 1 — Stitching is paid 56% more OT than the badges show</a:t>
            </a:r>
          </a:p>
          <a:p>
            <a:r>
              <a:rPr sz="1500">
                <a:solidFill>
                  <a:srgbClr val="5A6B7D"/>
                </a:solidFill>
              </a:rPr>
              <a:t>q06.sql · paid = payroll OVERTIME units (rule 20) vs computed = punch ot_hours (rules 14–15)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600" b="1">
                <a:solidFill>
                  <a:srgbClr val="C0392B"/>
                </a:solidFill>
              </a:rPr>
              <a:t>D20 Stitching: paid 7,659.0 h  vs  computed 4,902.0 h  =  +56.24%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D2733"/>
                </a:solidFill>
              </a:rPr>
              <a:t>PKR 3,771,337 of OT paid to D20 — the largest OT bill in the plant (next: Weaving 1.82M)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D2733"/>
                </a:solidFill>
              </a:rPr>
              <a:t>Only department above the 15% threshold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C0392B"/>
                </a:solidFill>
              </a:rPr>
              <a:t>Approvals match payment (7,656 h approved vs 7,659 paid) — so the gap is NOT the approval chain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C0392B"/>
                </a:solidFill>
              </a:rPr>
              <a:t>Hypothesis to confirm by audit: pay-figure entry — the units typed into payroll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89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0456B"/>
                </a:solidFill>
              </a:rPr>
              <a:t>Action: audit D20's six OT months unit-by-unit against clock data; project computed OT next to paid units at every payroll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456B"/>
                </a:solidFill>
              </a:rPr>
              <a:t>Finding 2 — Ghost pay: 5 employees paid after leaving</a:t>
            </a:r>
          </a:p>
          <a:p>
            <a:r>
              <a:rPr sz="1500">
                <a:solidFill>
                  <a:srgbClr val="5A6B7D"/>
                </a:solidFill>
              </a:rPr>
              <a:t>q08.sql · strictly-after-separation months (rule 4) · cross-checked by q07's zero-attendance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400" b="1">
                <a:solidFill>
                  <a:srgbClr val="C0392B"/>
                </a:solidFill>
              </a:rPr>
              <a:t>5 employees · 21 payroll months · PKR 1,948,000 paid after separation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C0392B"/>
                </a:solidFill>
              </a:rPr>
              <a:t>Worst case: E10471 Umair Baloch — separated 2026-04-23, PAID May–Sep = PKR 660,000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D2733"/>
                </a:solidFill>
              </a:rPr>
              <a:t>E11222 PKR 418,100 · E10332 PKR 322,000 · E10989 PKR 294,100 · E10295 PKR 253,800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E7A3C"/>
                </a:solidFill>
              </a:rPr>
              <a:t>Airtight: two INDEPENDENT queries agree — separation-date comparison (q08) and attendance anti-join (q07) both find exactly 21 (employee, month) rows</a:t>
            </a:r>
          </a:p>
          <a:p>
            <a:pPr>
              <a:spcAft>
                <a:spcPts val="900"/>
              </a:spcAft>
            </a:pPr>
            <a:r>
              <a:rPr sz="1900" b="0">
                <a:solidFill>
                  <a:srgbClr val="1D2733"/>
                </a:solidFill>
              </a:rPr>
              <a:t>Catchable at the first monthly close: PKR 132,000 (May) + PKR 454,000 (June) — ≈ PKR 0.59M, not 1.95M; the q07 query is all it 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89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0456B"/>
                </a:solidFill>
              </a:rPr>
              <a:t>Action: block all 5 from next payroll; recovery letters for PKR 1,948,000; make offboarding a same-day, payroll-blocking event.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0456B"/>
                </a:solidFill>
              </a:rPr>
              <a:t>Finding 3 — 20 employees burned a full year's leave in 6 months</a:t>
            </a:r>
          </a:p>
          <a:p>
            <a:r>
              <a:rPr sz="1500">
                <a:solidFill>
                  <a:srgbClr val="5A6B7D"/>
                </a:solidFill>
              </a:rPr>
              <a:t>q10.sql · approved Annual days Apr–Sep vs FULL-YEAR entitlement (rule 18, Sundays excluded)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247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200" b="1">
                <a:solidFill>
                  <a:srgbClr val="C0392B"/>
                </a:solidFill>
              </a:rPr>
              <a:t>E10770 Danish Iqbal: 28 days used vs 14 entitlement — 2× the year in half a year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D2733"/>
                </a:solidFill>
              </a:rPr>
              <a:t>19 more employees over entitlement (E10826 27/14, E10748 25/14, ...)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D2733"/>
                </a:solidFill>
              </a:rPr>
              <a:t>Approvals exceeding entitlement means the balance check simply isn't in the loop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D2733"/>
                </a:solidFill>
              </a:rPr>
              <a:t>Deliverables: README (rebuild in 1 command) · cfo_findings.md · ERD · HTML dashboard (bonus B4)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89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0456B"/>
                </a:solidFill>
              </a:rPr>
              <a:t>Recommendation: enforce the balance gate in the approval UI; audit every approval that pushed past entitlement.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